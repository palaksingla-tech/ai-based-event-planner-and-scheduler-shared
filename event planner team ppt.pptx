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6" r:id="rId11"/>
    <p:sldId id="267" r:id="rId12"/>
    <p:sldId id="268" r:id="rId13"/>
    <p:sldId id="263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65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f88ed25c0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f88ed25c0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f88ed25c0_2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af88ed25c0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f88ed25c0_2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af88ed25c0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f88ed25c0_2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af88ed25c0_2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f88ed25c0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af88ed25c0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f88ed25c0_2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af88ed25c0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88ed25c0_2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af88ed25c0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xmlns="" id="{123FEA8E-E072-63D2-B3F2-AB146C91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88ed25c0_2_134:notes">
            <a:extLst>
              <a:ext uri="{FF2B5EF4-FFF2-40B4-BE49-F238E27FC236}">
                <a16:creationId xmlns:a16="http://schemas.microsoft.com/office/drawing/2014/main" xmlns="" id="{E2D475D4-4064-50CA-05B8-CDB1B0A46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af88ed25c0_2_134:notes">
            <a:extLst>
              <a:ext uri="{FF2B5EF4-FFF2-40B4-BE49-F238E27FC236}">
                <a16:creationId xmlns:a16="http://schemas.microsoft.com/office/drawing/2014/main" xmlns="" id="{D8701829-D8A2-EC33-9FC8-60FDBA9D4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766486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xmlns="" id="{BFEC0B00-EE33-E1FE-E41C-6125648C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88ed25c0_2_134:notes">
            <a:extLst>
              <a:ext uri="{FF2B5EF4-FFF2-40B4-BE49-F238E27FC236}">
                <a16:creationId xmlns:a16="http://schemas.microsoft.com/office/drawing/2014/main" xmlns="" id="{74787B66-C7EC-90DA-D934-B16630C29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af88ed25c0_2_134:notes">
            <a:extLst>
              <a:ext uri="{FF2B5EF4-FFF2-40B4-BE49-F238E27FC236}">
                <a16:creationId xmlns:a16="http://schemas.microsoft.com/office/drawing/2014/main" xmlns="" id="{55CA57E7-407C-2E87-9FE8-7776DE1A5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022280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xmlns="" id="{6D068E82-5F77-D4BF-60C1-60AA237A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88ed25c0_2_134:notes">
            <a:extLst>
              <a:ext uri="{FF2B5EF4-FFF2-40B4-BE49-F238E27FC236}">
                <a16:creationId xmlns:a16="http://schemas.microsoft.com/office/drawing/2014/main" xmlns="" id="{DCF616B1-F4C4-DABE-2D18-DDE7AB1166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af88ed25c0_2_134:notes">
            <a:extLst>
              <a:ext uri="{FF2B5EF4-FFF2-40B4-BE49-F238E27FC236}">
                <a16:creationId xmlns:a16="http://schemas.microsoft.com/office/drawing/2014/main" xmlns="" id="{FC98BB51-AC30-BCA6-418F-4E49B952FB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338600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xmlns="" id="{2D717A88-B7C6-2AC6-82EF-6AB2714D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88ed25c0_2_134:notes">
            <a:extLst>
              <a:ext uri="{FF2B5EF4-FFF2-40B4-BE49-F238E27FC236}">
                <a16:creationId xmlns:a16="http://schemas.microsoft.com/office/drawing/2014/main" xmlns="" id="{4DC34256-9903-1978-8178-25E4F3BC3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af88ed25c0_2_134:notes">
            <a:extLst>
              <a:ext uri="{FF2B5EF4-FFF2-40B4-BE49-F238E27FC236}">
                <a16:creationId xmlns:a16="http://schemas.microsoft.com/office/drawing/2014/main" xmlns="" id="{3B1CE8A9-0589-2089-E9F3-CA7998EF2A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451658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f88ed25c0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af88ed25c0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ll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med">
    <p:pull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E3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4114800" y="962583"/>
            <a:ext cx="4572000" cy="30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AI-BASED EVENT</a:t>
            </a:r>
            <a:br>
              <a:rPr lang="en" sz="3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PLANNER &amp; SCHEDULER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CC99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sz="1800" b="0" i="0" u="none" strike="noStrike" cap="none" dirty="0">
                <a:solidFill>
                  <a:srgbClr val="CC99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 dirty="0">
                <a:solidFill>
                  <a:srgbClr val="CC9900"/>
                </a:solidFill>
                <a:latin typeface="Calibri"/>
                <a:ea typeface="Calibri"/>
                <a:cs typeface="Calibri"/>
                <a:sym typeface="Calibri"/>
              </a:rPr>
              <a:t>Intelligent Platform for Automated Management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 dirty="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sz="1600" b="0" i="0" u="none" strike="noStrike" cap="none" dirty="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600" b="0" i="0" u="none" strike="noStrike" cap="none" dirty="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r>
              <a:rPr lang="en" sz="1600" dirty="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Palak Singla</a:t>
            </a:r>
            <a:endParaRPr dirty="0"/>
          </a:p>
        </p:txBody>
      </p:sp>
      <p:pic>
        <p:nvPicPr>
          <p:cNvPr id="133" name="Google Shape;133;p25"/>
          <p:cNvPicPr preferRelativeResize="0"/>
          <p:nvPr/>
        </p:nvPicPr>
        <p:blipFill rotWithShape="1">
          <a:blip r:embed="rId4">
            <a:alphaModFix/>
          </a:blip>
          <a:srcRect l="14974" r="27761"/>
          <a:stretch/>
        </p:blipFill>
        <p:spPr>
          <a:xfrm>
            <a:off x="0" y="0"/>
            <a:ext cx="3820075" cy="5143500"/>
          </a:xfrm>
          <a:prstGeom prst="rect">
            <a:avLst/>
          </a:prstGeom>
          <a:solidFill>
            <a:srgbClr val="0A1E3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40" name="Google Shape;140;p26"/>
          <p:cNvSpPr txBox="1"/>
          <p:nvPr/>
        </p:nvSpPr>
        <p:spPr>
          <a:xfrm>
            <a:off x="457200" y="102870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 comprehensive web platform connecting users with event planners.</a:t>
            </a:r>
            <a:endParaRPr/>
          </a:p>
          <a:p>
            <a:pPr marL="0" marR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Integrates Google Gemini AI to provide budget predictions and recommendations.</a:t>
            </a:r>
            <a:endParaRPr/>
          </a:p>
          <a:p>
            <a:pPr marL="0" marR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Automates the entire workflow: Booking, Payments, and Notifications.</a:t>
            </a:r>
            <a:endParaRPr/>
          </a:p>
          <a:p>
            <a:pPr marL="0" marR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Solves the complexity of manual coordination and vendor tracking.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/>
          </a:p>
        </p:txBody>
      </p:sp>
      <p:sp>
        <p:nvSpPr>
          <p:cNvPr id="147" name="Google Shape;147;p27"/>
          <p:cNvSpPr/>
          <p:nvPr/>
        </p:nvSpPr>
        <p:spPr>
          <a:xfrm>
            <a:off x="457200" y="2284920"/>
            <a:ext cx="1828800" cy="822900"/>
          </a:xfrm>
          <a:prstGeom prst="roundRect">
            <a:avLst>
              <a:gd name="adj" fmla="val 16667"/>
            </a:avLst>
          </a:prstGeom>
          <a:solidFill>
            <a:srgbClr val="E6F0FF"/>
          </a:solidFill>
          <a:ln w="19050" cap="flat" cmpd="sng">
            <a:solidFill>
              <a:srgbClr val="0A1E3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React Frontend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(UI Layer)</a:t>
            </a:r>
            <a:endParaRPr b="1">
              <a:solidFill>
                <a:srgbClr val="888888"/>
              </a:solidFill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3657600" y="2284920"/>
            <a:ext cx="1828800" cy="822900"/>
          </a:xfrm>
          <a:prstGeom prst="roundRect">
            <a:avLst>
              <a:gd name="adj" fmla="val 16667"/>
            </a:avLst>
          </a:prstGeom>
          <a:solidFill>
            <a:srgbClr val="E6F0FF"/>
          </a:solidFill>
          <a:ln w="19050" cap="flat" cmpd="sng">
            <a:solidFill>
              <a:srgbClr val="0A1E3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(Business Logic)</a:t>
            </a:r>
            <a:endParaRPr b="1">
              <a:solidFill>
                <a:srgbClr val="888888"/>
              </a:solidFill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3657600" y="3999420"/>
            <a:ext cx="1828800" cy="822900"/>
          </a:xfrm>
          <a:prstGeom prst="can">
            <a:avLst>
              <a:gd name="adj" fmla="val 25000"/>
            </a:avLst>
          </a:prstGeom>
          <a:solidFill>
            <a:srgbClr val="E6F0FF"/>
          </a:solidFill>
          <a:ln w="19050" cap="flat" cmpd="sng">
            <a:solidFill>
              <a:srgbClr val="0A1E3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(Database)</a:t>
            </a:r>
            <a:endParaRPr b="1">
              <a:solidFill>
                <a:srgbClr val="888888"/>
              </a:solidFill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3145949" y="908475"/>
            <a:ext cx="2964384" cy="1033560"/>
          </a:xfrm>
          <a:prstGeom prst="cloud">
            <a:avLst/>
          </a:prstGeom>
          <a:solidFill>
            <a:srgbClr val="E6F0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Google Gemini</a:t>
            </a:r>
            <a:b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(AI Agent)</a:t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6858000" y="2284920"/>
            <a:ext cx="1828800" cy="822900"/>
          </a:xfrm>
          <a:prstGeom prst="roundRect">
            <a:avLst>
              <a:gd name="adj" fmla="val 16667"/>
            </a:avLst>
          </a:prstGeom>
          <a:solidFill>
            <a:srgbClr val="E6F0FF"/>
          </a:solidFill>
          <a:ln w="19050" cap="flat" cmpd="sng">
            <a:solidFill>
              <a:srgbClr val="0A1E3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Razorpay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(Payment</a:t>
            </a:r>
            <a:endParaRPr sz="18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Gateway)</a:t>
            </a:r>
            <a:endParaRPr b="1">
              <a:solidFill>
                <a:srgbClr val="888888"/>
              </a:solidFill>
            </a:endParaRPr>
          </a:p>
        </p:txBody>
      </p:sp>
      <p:cxnSp>
        <p:nvCxnSpPr>
          <p:cNvPr id="152" name="Google Shape;152;p27"/>
          <p:cNvCxnSpPr/>
          <p:nvPr/>
        </p:nvCxnSpPr>
        <p:spPr>
          <a:xfrm>
            <a:off x="2286000" y="2696400"/>
            <a:ext cx="1371600" cy="6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53" name="Google Shape;153;p27"/>
          <p:cNvCxnSpPr/>
          <p:nvPr/>
        </p:nvCxnSpPr>
        <p:spPr>
          <a:xfrm rot="-5400000" flipH="1">
            <a:off x="4126500" y="3536094"/>
            <a:ext cx="891600" cy="6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54" name="Google Shape;154;p27"/>
          <p:cNvCxnSpPr/>
          <p:nvPr/>
        </p:nvCxnSpPr>
        <p:spPr>
          <a:xfrm rot="-5400000">
            <a:off x="4400850" y="2113170"/>
            <a:ext cx="342900" cy="6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55" name="Google Shape;155;p27"/>
          <p:cNvCxnSpPr/>
          <p:nvPr/>
        </p:nvCxnSpPr>
        <p:spPr>
          <a:xfrm>
            <a:off x="5486400" y="2696400"/>
            <a:ext cx="1371600" cy="6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914400" y="1234440"/>
            <a:ext cx="1828800" cy="548640"/>
          </a:xfrm>
          <a:prstGeom prst="rect">
            <a:avLst/>
          </a:prstGeom>
          <a:solidFill>
            <a:srgbClr val="0A1E3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163" name="Google Shape;163;p28"/>
          <p:cNvSpPr/>
          <p:nvPr/>
        </p:nvSpPr>
        <p:spPr>
          <a:xfrm>
            <a:off x="2743200" y="1234440"/>
            <a:ext cx="5486400" cy="54864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React.js, Tailwind CSS</a:t>
            </a:r>
            <a:endParaRPr/>
          </a:p>
        </p:txBody>
      </p:sp>
      <p:sp>
        <p:nvSpPr>
          <p:cNvPr id="164" name="Google Shape;164;p28"/>
          <p:cNvSpPr/>
          <p:nvPr/>
        </p:nvSpPr>
        <p:spPr>
          <a:xfrm>
            <a:off x="914400" y="1920240"/>
            <a:ext cx="1828800" cy="548640"/>
          </a:xfrm>
          <a:prstGeom prst="rect">
            <a:avLst/>
          </a:prstGeom>
          <a:solidFill>
            <a:srgbClr val="0A1E3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sp>
        <p:nvSpPr>
          <p:cNvPr id="165" name="Google Shape;165;p28"/>
          <p:cNvSpPr/>
          <p:nvPr/>
        </p:nvSpPr>
        <p:spPr>
          <a:xfrm>
            <a:off x="2743200" y="1920240"/>
            <a:ext cx="5486400" cy="54864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Spring Boot (Java), REST API</a:t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914400" y="2606040"/>
            <a:ext cx="1828800" cy="548640"/>
          </a:xfrm>
          <a:prstGeom prst="rect">
            <a:avLst/>
          </a:prstGeom>
          <a:solidFill>
            <a:srgbClr val="0A1E3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2743200" y="2606040"/>
            <a:ext cx="5486400" cy="54864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MySQL, Spring Data JPA</a:t>
            </a:r>
            <a:endParaRPr/>
          </a:p>
        </p:txBody>
      </p:sp>
      <p:sp>
        <p:nvSpPr>
          <p:cNvPr id="168" name="Google Shape;168;p28"/>
          <p:cNvSpPr/>
          <p:nvPr/>
        </p:nvSpPr>
        <p:spPr>
          <a:xfrm>
            <a:off x="914400" y="3291840"/>
            <a:ext cx="1828800" cy="548640"/>
          </a:xfrm>
          <a:prstGeom prst="rect">
            <a:avLst/>
          </a:prstGeom>
          <a:solidFill>
            <a:srgbClr val="0A1E3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Service</a:t>
            </a:r>
            <a:endParaRPr/>
          </a:p>
        </p:txBody>
      </p:sp>
      <p:sp>
        <p:nvSpPr>
          <p:cNvPr id="169" name="Google Shape;169;p28"/>
          <p:cNvSpPr/>
          <p:nvPr/>
        </p:nvSpPr>
        <p:spPr>
          <a:xfrm>
            <a:off x="2743200" y="3291840"/>
            <a:ext cx="5486400" cy="54864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Google Gemini API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Dashboard</a:t>
            </a:r>
            <a:endParaRPr/>
          </a:p>
        </p:txBody>
      </p:sp>
      <p:sp>
        <p:nvSpPr>
          <p:cNvPr id="176" name="Google Shape;176;p29"/>
          <p:cNvSpPr/>
          <p:nvPr/>
        </p:nvSpPr>
        <p:spPr>
          <a:xfrm>
            <a:off x="457200" y="1371600"/>
            <a:ext cx="3886200" cy="1371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9050" cap="flat" cmpd="sng">
            <a:solidFill>
              <a:srgbClr val="0A1E3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Discover Planners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Browse verified planners with filters for location &amp; price.</a:t>
            </a:r>
            <a:endParaRPr/>
          </a:p>
        </p:txBody>
      </p:sp>
      <p:sp>
        <p:nvSpPr>
          <p:cNvPr id="177" name="Google Shape;177;p29"/>
          <p:cNvSpPr/>
          <p:nvPr/>
        </p:nvSpPr>
        <p:spPr>
          <a:xfrm>
            <a:off x="4800600" y="1371600"/>
            <a:ext cx="3886200" cy="1371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9050" cap="flat" cmpd="sng">
            <a:solidFill>
              <a:srgbClr val="0A1E3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AI Budget Predictor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Get instant cost estimates based on guest count.</a:t>
            </a:r>
            <a:endParaRPr/>
          </a:p>
        </p:txBody>
      </p:sp>
      <p:sp>
        <p:nvSpPr>
          <p:cNvPr id="178" name="Google Shape;178;p29"/>
          <p:cNvSpPr/>
          <p:nvPr/>
        </p:nvSpPr>
        <p:spPr>
          <a:xfrm>
            <a:off x="457200" y="3086100"/>
            <a:ext cx="3886200" cy="1371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9050" cap="flat" cmpd="sng">
            <a:solidFill>
              <a:srgbClr val="0A1E3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Book &amp; Enquire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Direct booking system with status tracking.</a:t>
            </a:r>
            <a:endParaRPr/>
          </a:p>
        </p:txBody>
      </p:sp>
      <p:sp>
        <p:nvSpPr>
          <p:cNvPr id="179" name="Google Shape;179;p29"/>
          <p:cNvSpPr/>
          <p:nvPr/>
        </p:nvSpPr>
        <p:spPr>
          <a:xfrm>
            <a:off x="4800600" y="3086100"/>
            <a:ext cx="3886200" cy="1371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9050" cap="flat" cmpd="sng">
            <a:solidFill>
              <a:srgbClr val="0A1E3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History &amp; Payments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View past events and download receipts.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Admin Dashboard</a:t>
            </a:r>
            <a:endParaRPr/>
          </a:p>
        </p:txBody>
      </p:sp>
      <p:sp>
        <p:nvSpPr>
          <p:cNvPr id="186" name="Google Shape;186;p30"/>
          <p:cNvSpPr/>
          <p:nvPr/>
        </p:nvSpPr>
        <p:spPr>
          <a:xfrm>
            <a:off x="457200" y="1371600"/>
            <a:ext cx="3886200" cy="1371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Platform Analytics</a:t>
            </a:r>
            <a:endParaRPr dirty="0">
              <a:solidFill>
                <a:srgbClr val="0A1E3C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Visual charts for revenue, users, and booking stats.</a:t>
            </a:r>
            <a:endParaRPr dirty="0"/>
          </a:p>
        </p:txBody>
      </p:sp>
      <p:sp>
        <p:nvSpPr>
          <p:cNvPr id="187" name="Google Shape;187;p30"/>
          <p:cNvSpPr/>
          <p:nvPr/>
        </p:nvSpPr>
        <p:spPr>
          <a:xfrm>
            <a:off x="4800600" y="1371600"/>
            <a:ext cx="3886200" cy="1371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Management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Approve/Reject planners and manage user access.</a:t>
            </a:r>
            <a:endParaRPr/>
          </a:p>
        </p:txBody>
      </p:sp>
      <p:sp>
        <p:nvSpPr>
          <p:cNvPr id="188" name="Google Shape;188;p30"/>
          <p:cNvSpPr/>
          <p:nvPr/>
        </p:nvSpPr>
        <p:spPr>
          <a:xfrm>
            <a:off x="457200" y="3086100"/>
            <a:ext cx="3886200" cy="1371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 Oversight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Monitor Razorpay transactions in real-time.</a:t>
            </a:r>
            <a:endParaRPr/>
          </a:p>
        </p:txBody>
      </p:sp>
      <p:sp>
        <p:nvSpPr>
          <p:cNvPr id="189" name="Google Shape;189;p30"/>
          <p:cNvSpPr/>
          <p:nvPr/>
        </p:nvSpPr>
        <p:spPr>
          <a:xfrm>
            <a:off x="4800600" y="3086100"/>
            <a:ext cx="3886200" cy="1371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Workflows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Auto-send email reminders and notifications.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Payment Process</a:t>
            </a:r>
            <a:endParaRPr/>
          </a:p>
        </p:txBody>
      </p:sp>
      <p:sp>
        <p:nvSpPr>
          <p:cNvPr id="196" name="Google Shape;196;p31"/>
          <p:cNvSpPr/>
          <p:nvPr/>
        </p:nvSpPr>
        <p:spPr>
          <a:xfrm>
            <a:off x="914400" y="1714500"/>
            <a:ext cx="914400" cy="685800"/>
          </a:xfrm>
          <a:prstGeom prst="ellipse">
            <a:avLst/>
          </a:prstGeom>
          <a:solidFill>
            <a:srgbClr val="0A1E3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97" name="Google Shape;197;p31"/>
          <p:cNvSpPr/>
          <p:nvPr/>
        </p:nvSpPr>
        <p:spPr>
          <a:xfrm>
            <a:off x="457200" y="2468880"/>
            <a:ext cx="1828800" cy="6858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Choose Planner</a:t>
            </a:r>
            <a:endParaRPr/>
          </a:p>
        </p:txBody>
      </p:sp>
      <p:cxnSp>
        <p:nvCxnSpPr>
          <p:cNvPr id="198" name="Google Shape;198;p31"/>
          <p:cNvCxnSpPr/>
          <p:nvPr/>
        </p:nvCxnSpPr>
        <p:spPr>
          <a:xfrm>
            <a:off x="2377440" y="2057400"/>
            <a:ext cx="274320" cy="0"/>
          </a:xfrm>
          <a:prstGeom prst="straightConnector1">
            <a:avLst/>
          </a:prstGeom>
          <a:noFill/>
          <a:ln w="25400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99" name="Google Shape;199;p31"/>
          <p:cNvSpPr/>
          <p:nvPr/>
        </p:nvSpPr>
        <p:spPr>
          <a:xfrm>
            <a:off x="3108960" y="1714500"/>
            <a:ext cx="914400" cy="685800"/>
          </a:xfrm>
          <a:prstGeom prst="ellipse">
            <a:avLst/>
          </a:prstGeom>
          <a:solidFill>
            <a:srgbClr val="0A1E3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00" name="Google Shape;200;p31"/>
          <p:cNvSpPr/>
          <p:nvPr/>
        </p:nvSpPr>
        <p:spPr>
          <a:xfrm>
            <a:off x="2651760" y="2468880"/>
            <a:ext cx="1828800" cy="6858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Booking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Confirm Details</a:t>
            </a:r>
            <a:endParaRPr/>
          </a:p>
        </p:txBody>
      </p:sp>
      <p:cxnSp>
        <p:nvCxnSpPr>
          <p:cNvPr id="201" name="Google Shape;201;p31"/>
          <p:cNvCxnSpPr/>
          <p:nvPr/>
        </p:nvCxnSpPr>
        <p:spPr>
          <a:xfrm>
            <a:off x="4572000" y="2057400"/>
            <a:ext cx="274320" cy="0"/>
          </a:xfrm>
          <a:prstGeom prst="straightConnector1">
            <a:avLst/>
          </a:prstGeom>
          <a:noFill/>
          <a:ln w="25400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02" name="Google Shape;202;p31"/>
          <p:cNvSpPr/>
          <p:nvPr/>
        </p:nvSpPr>
        <p:spPr>
          <a:xfrm>
            <a:off x="5303520" y="1714500"/>
            <a:ext cx="914400" cy="685800"/>
          </a:xfrm>
          <a:prstGeom prst="ellipse">
            <a:avLst/>
          </a:prstGeom>
          <a:solidFill>
            <a:srgbClr val="CC990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4846320" y="2468880"/>
            <a:ext cx="1828800" cy="6858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Razorpay Secure</a:t>
            </a:r>
            <a:endParaRPr/>
          </a:p>
        </p:txBody>
      </p:sp>
      <p:cxnSp>
        <p:nvCxnSpPr>
          <p:cNvPr id="204" name="Google Shape;204;p31"/>
          <p:cNvCxnSpPr/>
          <p:nvPr/>
        </p:nvCxnSpPr>
        <p:spPr>
          <a:xfrm>
            <a:off x="6766560" y="2057400"/>
            <a:ext cx="274319" cy="0"/>
          </a:xfrm>
          <a:prstGeom prst="straightConnector1">
            <a:avLst/>
          </a:prstGeom>
          <a:noFill/>
          <a:ln w="25400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05" name="Google Shape;205;p31"/>
          <p:cNvSpPr/>
          <p:nvPr/>
        </p:nvSpPr>
        <p:spPr>
          <a:xfrm>
            <a:off x="7498079" y="1714500"/>
            <a:ext cx="914400" cy="685800"/>
          </a:xfrm>
          <a:prstGeom prst="ellipse">
            <a:avLst/>
          </a:prstGeom>
          <a:solidFill>
            <a:srgbClr val="2E8B57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06" name="Google Shape;206;p31"/>
          <p:cNvSpPr/>
          <p:nvPr/>
        </p:nvSpPr>
        <p:spPr>
          <a:xfrm>
            <a:off x="7040879" y="2468880"/>
            <a:ext cx="1828800" cy="6858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70809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A1E3C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DB Update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>
          <a:extLst>
            <a:ext uri="{FF2B5EF4-FFF2-40B4-BE49-F238E27FC236}">
              <a16:creationId xmlns:a16="http://schemas.microsoft.com/office/drawing/2014/main" xmlns="" id="{BAF0E18F-3245-894F-B7FA-5573401B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>
            <a:extLst>
              <a:ext uri="{FF2B5EF4-FFF2-40B4-BE49-F238E27FC236}">
                <a16:creationId xmlns:a16="http://schemas.microsoft.com/office/drawing/2014/main" xmlns="" id="{320A75AC-7675-EF4C-A039-DB67DF1B36C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1">
            <a:extLst>
              <a:ext uri="{FF2B5EF4-FFF2-40B4-BE49-F238E27FC236}">
                <a16:creationId xmlns:a16="http://schemas.microsoft.com/office/drawing/2014/main" xmlns="" id="{8A630CB3-DF5B-5679-AF45-F28E7C3E4F60}"/>
              </a:ext>
            </a:extLst>
          </p:cNvPr>
          <p:cNvSpPr txBox="1"/>
          <p:nvPr/>
        </p:nvSpPr>
        <p:spPr>
          <a:xfrm>
            <a:off x="457200" y="205740"/>
            <a:ext cx="822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Screenshots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8AECAEF-36CA-0AE5-9432-5B11D66F84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106"/>
          <a:stretch>
            <a:fillRect/>
          </a:stretch>
        </p:blipFill>
        <p:spPr>
          <a:xfrm>
            <a:off x="302217" y="920947"/>
            <a:ext cx="8493071" cy="31706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E04BF52-DC09-4989-91A2-C46526BDBFB3}"/>
              </a:ext>
            </a:extLst>
          </p:cNvPr>
          <p:cNvSpPr txBox="1"/>
          <p:nvPr/>
        </p:nvSpPr>
        <p:spPr>
          <a:xfrm>
            <a:off x="232474" y="4324027"/>
            <a:ext cx="5253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page showing about the website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765466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>
          <a:extLst>
            <a:ext uri="{FF2B5EF4-FFF2-40B4-BE49-F238E27FC236}">
              <a16:creationId xmlns:a16="http://schemas.microsoft.com/office/drawing/2014/main" xmlns="" id="{ADAE8584-96B4-DB04-0F49-E9AD69A1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>
            <a:extLst>
              <a:ext uri="{FF2B5EF4-FFF2-40B4-BE49-F238E27FC236}">
                <a16:creationId xmlns:a16="http://schemas.microsoft.com/office/drawing/2014/main" xmlns="" id="{7F562937-C6E1-A7F1-9B41-5EA9E450055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1">
            <a:extLst>
              <a:ext uri="{FF2B5EF4-FFF2-40B4-BE49-F238E27FC236}">
                <a16:creationId xmlns:a16="http://schemas.microsoft.com/office/drawing/2014/main" xmlns="" id="{178E0793-ACE4-C148-341A-E2E785235AA3}"/>
              </a:ext>
            </a:extLst>
          </p:cNvPr>
          <p:cNvSpPr txBox="1"/>
          <p:nvPr/>
        </p:nvSpPr>
        <p:spPr>
          <a:xfrm>
            <a:off x="457200" y="205740"/>
            <a:ext cx="822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Screenshots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D6DD816-E551-8C6F-A1D4-7B5BF2B5C598}"/>
              </a:ext>
            </a:extLst>
          </p:cNvPr>
          <p:cNvSpPr txBox="1"/>
          <p:nvPr/>
        </p:nvSpPr>
        <p:spPr>
          <a:xfrm>
            <a:off x="317715" y="4684226"/>
            <a:ext cx="5850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Dashboard where users can interact with different functionalities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8B9D3B6-7596-DB80-C4D4-BC66B0E8C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" y="891029"/>
            <a:ext cx="8493071" cy="367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3642846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>
          <a:extLst>
            <a:ext uri="{FF2B5EF4-FFF2-40B4-BE49-F238E27FC236}">
              <a16:creationId xmlns:a16="http://schemas.microsoft.com/office/drawing/2014/main" xmlns="" id="{8B1B135C-4AEB-42FD-41D9-F68204062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>
            <a:extLst>
              <a:ext uri="{FF2B5EF4-FFF2-40B4-BE49-F238E27FC236}">
                <a16:creationId xmlns:a16="http://schemas.microsoft.com/office/drawing/2014/main" xmlns="" id="{4CCD2CB6-B522-A36A-2F53-BD132C94498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1">
            <a:extLst>
              <a:ext uri="{FF2B5EF4-FFF2-40B4-BE49-F238E27FC236}">
                <a16:creationId xmlns:a16="http://schemas.microsoft.com/office/drawing/2014/main" xmlns="" id="{BE16DDF5-CA4E-66D7-B4BB-07379A7F01A1}"/>
              </a:ext>
            </a:extLst>
          </p:cNvPr>
          <p:cNvSpPr txBox="1"/>
          <p:nvPr/>
        </p:nvSpPr>
        <p:spPr>
          <a:xfrm>
            <a:off x="457200" y="205740"/>
            <a:ext cx="822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Screenshots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36CD06C-4C58-F921-027B-0C04072282F9}"/>
              </a:ext>
            </a:extLst>
          </p:cNvPr>
          <p:cNvSpPr txBox="1"/>
          <p:nvPr/>
        </p:nvSpPr>
        <p:spPr>
          <a:xfrm>
            <a:off x="317715" y="4684226"/>
            <a:ext cx="5850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Dashboard where admin can manage the website efficiently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2C4F0C2-96B2-686D-E18E-E4170E84F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15" y="889685"/>
            <a:ext cx="8562814" cy="372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8079374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>
          <a:extLst>
            <a:ext uri="{FF2B5EF4-FFF2-40B4-BE49-F238E27FC236}">
              <a16:creationId xmlns:a16="http://schemas.microsoft.com/office/drawing/2014/main" xmlns="" id="{EA60D0F3-4F7D-231C-582E-123EBB96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>
            <a:extLst>
              <a:ext uri="{FF2B5EF4-FFF2-40B4-BE49-F238E27FC236}">
                <a16:creationId xmlns:a16="http://schemas.microsoft.com/office/drawing/2014/main" xmlns="" id="{F8F3587A-01B6-6BE5-C143-83460587E8E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E3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1">
            <a:extLst>
              <a:ext uri="{FF2B5EF4-FFF2-40B4-BE49-F238E27FC236}">
                <a16:creationId xmlns:a16="http://schemas.microsoft.com/office/drawing/2014/main" xmlns="" id="{3AAA2AF0-EAC7-0274-F152-3650A8E4E007}"/>
              </a:ext>
            </a:extLst>
          </p:cNvPr>
          <p:cNvSpPr txBox="1"/>
          <p:nvPr/>
        </p:nvSpPr>
        <p:spPr>
          <a:xfrm>
            <a:off x="457200" y="205740"/>
            <a:ext cx="822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Screenshots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CB70E13-6D92-370C-6F1A-FAAEF85E326D}"/>
              </a:ext>
            </a:extLst>
          </p:cNvPr>
          <p:cNvSpPr txBox="1"/>
          <p:nvPr/>
        </p:nvSpPr>
        <p:spPr>
          <a:xfrm>
            <a:off x="317714" y="4684226"/>
            <a:ext cx="8446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Razor Pay Payment Gateway where users can pay for their confirmed bookings through various payment options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A70A6BC-B346-55E0-108B-514413CD91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89" t="10138" r="13611" b="9609"/>
          <a:stretch>
            <a:fillRect/>
          </a:stretch>
        </p:blipFill>
        <p:spPr>
          <a:xfrm>
            <a:off x="1999280" y="996215"/>
            <a:ext cx="5515599" cy="336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8273954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/>
        </p:nvSpPr>
        <p:spPr>
          <a:xfrm>
            <a:off x="1828800" y="2057400"/>
            <a:ext cx="54864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dirty="0"/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255</Words>
  <Application>Microsoft Office PowerPoint</Application>
  <PresentationFormat>On-screen Show (16:9)</PresentationFormat>
  <Paragraphs>69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Simple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MITRA</dc:creator>
  <cp:lastModifiedBy>Admin</cp:lastModifiedBy>
  <cp:revision>6</cp:revision>
  <dcterms:modified xsi:type="dcterms:W3CDTF">2025-12-15T14:49:17Z</dcterms:modified>
</cp:coreProperties>
</file>